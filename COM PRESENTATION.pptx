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B7D-9482-44A5-BB60-FC84BF014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BB2B6-75B7-48DF-9D7B-699AA0001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F6098-DA2D-4CAD-96EA-0C21402F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7B4EB-8117-4878-9A59-73FF0826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12213-67F3-47C0-8163-512ED2F7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33B92-9241-4118-BE8E-90D08DA3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F933-C6E1-42D0-8BF4-BED8F8D9E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B4884-8023-4C1C-B5BC-E4E3A925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DC64A-E605-4D68-A7BC-804BB430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F82BE-F6E6-4AB2-8D54-60083D95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2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7DB9-1742-4A94-B54A-BC30B75A4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887A4-B0BA-45E2-BDB4-7FC0166A8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5C8B8-41F7-4904-A217-EF60A841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9EFEE-F824-4A47-9506-796D30E5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3B68E-B7B1-4CC5-BA59-FADCB738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4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728F-B37F-44E9-A5D0-479B701D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22DC6-E26D-4F1A-A078-314CD3D1A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86ECE-5BD8-4792-A387-FFCD53650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9B078-9C50-4035-B905-14849C85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C9EDA-8C16-419D-AFBB-52438C4C1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D5B18-FB65-4D09-AA6A-A719799B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0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92E1-1487-4808-9F88-8E0421F6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B3B3C-0E4B-4465-912D-E4E884272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0219E-0460-4B68-930F-6AA4618AA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12262-F8A8-4759-8935-A80D7F04F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3A6C4-7277-45E3-A6EA-BBD021928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007576-9307-4C54-8674-ABDD1EF5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023D1-A66B-49CD-8EF0-1012AF60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1E72A9-2A8C-4EDB-ABE8-0F63F2DF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3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E142-D8CA-4660-9BBB-7D61EAAB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26C4E-26FB-4C3D-8E60-F04962F3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CA1F5-E21C-4E34-AB5D-F51959FD0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50AA7-DB42-467A-B96B-89F5486E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8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0D026-DCF1-4ED7-BD4C-5D28D3A3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632F0-7BE9-458E-AD1D-767E2CE5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C13EC-3E92-4519-9A4E-263E0046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7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75E1-56BD-4A00-BC2F-D54C59EC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51729-3ECE-446E-B2A5-82373FB0A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6A964-DBC5-49D8-8EC5-5B047DFD3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49747-C93C-4BD2-A4D4-03968266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7188F-E04A-4163-8BC0-6A55E385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907CE-73A4-48EE-B9C5-AC89F6C9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3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206B-504F-48FC-9AB1-0F5A6237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DBF979-9BD9-434A-AB4E-2F500B1F4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AA82F-C534-41D4-9843-455E5F10A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245FE-444F-4315-A354-C2DE9151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2BC45-D0C9-4BC5-A217-F063BC48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00D21-C8EC-43D2-B39F-16E33FBF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3724-4731-42E9-ABC7-B2103B90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3D51E-539C-42CF-BBA8-0C9470BDE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3CEC1-9E9A-4D23-BDD8-7DE2F322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D277B-4BBA-4752-AA76-D3FC8CDD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93E69-98AD-41DD-A445-41D2F0D6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2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F176BC-F709-45D3-AF4A-BD3AB6774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9CDAE-A070-4291-92B6-54C44017E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70B6A-C9D0-4A22-B0A9-125A553E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EEDBE-B03E-4B02-AF5C-572F3C22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98062-4074-4365-855C-CDC75A62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8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D6FB9-7E6E-4403-ACDC-A2C65B10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E4062-7F9B-45BC-86AC-6F6AF2F75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37865-DBFD-428D-B78B-1BFA7A1C6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D6C30-945B-44B4-9DA6-5443DA70796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2369C-4F84-4BC5-9EE4-EF253437F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B5C3-2415-48E4-9E88-97A88F676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D4CE1-E6C7-48F9-AEB5-C6C1897A4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9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32E665-DEF3-4E2B-9688-1D0C54FAD5B5}"/>
              </a:ext>
            </a:extLst>
          </p:cNvPr>
          <p:cNvSpPr txBox="1"/>
          <p:nvPr/>
        </p:nvSpPr>
        <p:spPr>
          <a:xfrm>
            <a:off x="0" y="254000"/>
            <a:ext cx="1219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9CA3AF"/>
                </a:solidFill>
              </a:rPr>
              <a:t>CONTINUOUS ASSESSMENT TEST (CAT)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28A1C-11A1-49CF-8C3D-5080C34E5B1E}"/>
              </a:ext>
            </a:extLst>
          </p:cNvPr>
          <p:cNvSpPr txBox="1"/>
          <p:nvPr/>
        </p:nvSpPr>
        <p:spPr>
          <a:xfrm>
            <a:off x="0" y="69850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>
                <a:solidFill>
                  <a:srgbClr val="9CA3AF"/>
                </a:solidFill>
              </a:rPr>
              <a:t>Web Design &amp; Development  |  Total Marks: 80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8871A7-66E0-4D47-9C26-D22627FDC2C0}"/>
              </a:ext>
            </a:extLst>
          </p:cNvPr>
          <p:cNvSpPr/>
          <p:nvPr/>
        </p:nvSpPr>
        <p:spPr>
          <a:xfrm>
            <a:off x="3556000" y="1397000"/>
            <a:ext cx="5080000" cy="1270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23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</a:rPr>
              <a:t>Inner Circle</a:t>
            </a:r>
          </a:p>
          <a:p>
            <a:pPr algn="ctr"/>
            <a:r>
              <a:rPr lang="en-US" sz="2800" b="1">
                <a:solidFill>
                  <a:srgbClr val="D4A843"/>
                </a:solidFill>
              </a:rPr>
              <a:t>Electricals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D1BDE-31C5-47E9-B356-E3CDD5C5F0F2}"/>
              </a:ext>
            </a:extLst>
          </p:cNvPr>
          <p:cNvSpPr txBox="1"/>
          <p:nvPr/>
        </p:nvSpPr>
        <p:spPr>
          <a:xfrm>
            <a:off x="635000" y="2921000"/>
            <a:ext cx="10922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E6EEF8"/>
                </a:solidFill>
              </a:rPr>
              <a:t>Company: Inner Circle Electricals</a:t>
            </a:r>
          </a:p>
          <a:p>
            <a:pPr algn="ctr"/>
            <a:r>
              <a:rPr lang="en-US" sz="1200">
                <a:solidFill>
                  <a:srgbClr val="E6EEF8"/>
                </a:solidFill>
              </a:rPr>
              <a:t>Industry: Electrical Services &amp; Home Electronics Repair</a:t>
            </a:r>
          </a:p>
          <a:p>
            <a:pPr algn="ctr"/>
            <a:r>
              <a:rPr lang="en-US" sz="1200">
                <a:solidFill>
                  <a:srgbClr val="E6EEF8"/>
                </a:solidFill>
              </a:rPr>
              <a:t>Location: Kesses, Uasin Gishu County</a:t>
            </a:r>
          </a:p>
          <a:p>
            <a:pPr algn="ctr"/>
            <a:r>
              <a:rPr lang="en-US" sz="1200">
                <a:solidFill>
                  <a:srgbClr val="E6EEF8"/>
                </a:solidFill>
              </a:rPr>
              <a:t>Lecturer: Dr. Eng. Cedric Okinda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474CE8-B15A-4551-96A9-1E5F472DD28E}"/>
              </a:ext>
            </a:extLst>
          </p:cNvPr>
          <p:cNvSpPr/>
          <p:nvPr/>
        </p:nvSpPr>
        <p:spPr>
          <a:xfrm>
            <a:off x="3302000" y="4127500"/>
            <a:ext cx="5588000" cy="1651000"/>
          </a:xfrm>
          <a:prstGeom prst="roundRect">
            <a:avLst/>
          </a:prstGeom>
          <a:solidFill>
            <a:srgbClr val="192337"/>
          </a:solidFill>
          <a:ln w="1905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127000" rtlCol="0" anchor="ctr"/>
          <a:lstStyle/>
          <a:p>
            <a:pPr algn="ctr"/>
            <a:r>
              <a:rPr lang="en-US" sz="1300" b="1">
                <a:solidFill>
                  <a:srgbClr val="6EE7B7"/>
                </a:solidFill>
              </a:rPr>
              <a:t>GROUP MEMBERS</a:t>
            </a:r>
          </a:p>
          <a:p>
            <a:pPr algn="ctr"/>
            <a:r>
              <a:rPr lang="en-US" sz="1100">
                <a:solidFill>
                  <a:srgbClr val="E6EEF8"/>
                </a:solidFill>
              </a:rPr>
              <a:t>1. JOSHUA KIPRUTO - EC/2595/23</a:t>
            </a:r>
          </a:p>
          <a:p>
            <a:pPr algn="ctr"/>
            <a:r>
              <a:rPr lang="en-US" sz="1100">
                <a:solidFill>
                  <a:srgbClr val="E6EEF8"/>
                </a:solidFill>
              </a:rPr>
              <a:t>2. BRIAN IRUNGU - EC/2564/23</a:t>
            </a:r>
          </a:p>
          <a:p>
            <a:pPr algn="ctr"/>
            <a:r>
              <a:rPr lang="en-US" sz="1100">
                <a:solidFill>
                  <a:srgbClr val="E6EEF8"/>
                </a:solidFill>
              </a:rPr>
              <a:t>3. BRIAN WANYIRI - EC/2577/23</a:t>
            </a:r>
          </a:p>
          <a:p>
            <a:pPr algn="ctr"/>
            <a:r>
              <a:rPr lang="en-US" sz="1100">
                <a:solidFill>
                  <a:srgbClr val="E6EEF8"/>
                </a:solidFill>
              </a:rPr>
              <a:t>4. EMMANUEL OOKO - EC/2584/23</a:t>
            </a:r>
          </a:p>
          <a:p>
            <a:pPr algn="ctr"/>
            <a:r>
              <a:rPr lang="en-US" sz="1100">
                <a:solidFill>
                  <a:srgbClr val="E6EEF8"/>
                </a:solidFill>
              </a:rPr>
              <a:t>5. TIMOTHY MUYELELE - EC/2585/23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0DBB0-6175-4DF8-A7A2-6691B854228B}"/>
              </a:ext>
            </a:extLst>
          </p:cNvPr>
          <p:cNvSpPr txBox="1"/>
          <p:nvPr/>
        </p:nvSpPr>
        <p:spPr>
          <a:xfrm>
            <a:off x="0" y="635000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>
                <a:solidFill>
                  <a:srgbClr val="9CA3AF"/>
                </a:solidFill>
              </a:rPr>
              <a:t>February 11, 2026</a:t>
            </a:r>
          </a:p>
        </p:txBody>
      </p:sp>
    </p:spTree>
    <p:extLst>
      <p:ext uri="{BB962C8B-B14F-4D97-AF65-F5344CB8AC3E}">
        <p14:creationId xmlns:p14="http://schemas.microsoft.com/office/powerpoint/2010/main" val="96246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F738FB-1AB7-46E3-A0C5-61BE1367EA4B}"/>
              </a:ext>
            </a:extLst>
          </p:cNvPr>
          <p:cNvSpPr txBox="1"/>
          <p:nvPr/>
        </p:nvSpPr>
        <p:spPr>
          <a:xfrm>
            <a:off x="508000" y="2540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6EE7B7"/>
                </a:solidFill>
              </a:rPr>
              <a:t>Presentation Outline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D391F9-2637-4F8F-A61B-186E82617148}"/>
              </a:ext>
            </a:extLst>
          </p:cNvPr>
          <p:cNvSpPr/>
          <p:nvPr/>
        </p:nvSpPr>
        <p:spPr>
          <a:xfrm>
            <a:off x="508000" y="863600"/>
            <a:ext cx="1524000" cy="508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C05A9-0BDB-454E-9BBD-5F28764971DA}"/>
              </a:ext>
            </a:extLst>
          </p:cNvPr>
          <p:cNvSpPr txBox="1"/>
          <p:nvPr/>
        </p:nvSpPr>
        <p:spPr>
          <a:xfrm>
            <a:off x="508000" y="1079500"/>
            <a:ext cx="11176000" cy="32316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60A5FA"/>
                </a:solidFill>
              </a:rPr>
              <a:t>Q1. CONCEPTION &amp; STRATEGY (20 Marks)</a:t>
            </a:r>
          </a:p>
          <a:p>
            <a:r>
              <a:rPr lang="en-US" sz="1400">
                <a:solidFill>
                  <a:srgbClr val="E6EEF8"/>
                </a:solidFill>
              </a:rPr>
              <a:t>      a) Company Profile &amp; Purpose</a:t>
            </a:r>
          </a:p>
          <a:p>
            <a:r>
              <a:rPr lang="en-US" sz="1400">
                <a:solidFill>
                  <a:srgbClr val="E6EEF8"/>
                </a:solidFill>
              </a:rPr>
              <a:t>      b) Design Thinking Process</a:t>
            </a:r>
          </a:p>
          <a:p>
            <a:endParaRPr lang="en-US" sz="1400">
              <a:solidFill>
                <a:srgbClr val="E6EEF8"/>
              </a:solidFill>
            </a:endParaRPr>
          </a:p>
          <a:p>
            <a:r>
              <a:rPr lang="en-US" sz="1600" b="1">
                <a:solidFill>
                  <a:srgbClr val="60A5FA"/>
                </a:solidFill>
              </a:rPr>
              <a:t>Q2. ARCHITECTURE &amp; LOGIC (30 Marks)</a:t>
            </a:r>
          </a:p>
          <a:p>
            <a:r>
              <a:rPr lang="en-US" sz="1400">
                <a:solidFill>
                  <a:srgbClr val="E6EEF8"/>
                </a:solidFill>
              </a:rPr>
              <a:t>      a) Information Gathering &amp; Branding</a:t>
            </a:r>
          </a:p>
          <a:p>
            <a:r>
              <a:rPr lang="en-US" sz="1400">
                <a:solidFill>
                  <a:srgbClr val="E6EEF8"/>
                </a:solidFill>
              </a:rPr>
              <a:t>      b) Site Structure &amp; Navigation</a:t>
            </a:r>
          </a:p>
          <a:p>
            <a:r>
              <a:rPr lang="en-US" sz="1400">
                <a:solidFill>
                  <a:srgbClr val="E6EEF8"/>
                </a:solidFill>
              </a:rPr>
              <a:t>      c) Pricing &amp; Competitive Advantages</a:t>
            </a:r>
          </a:p>
          <a:p>
            <a:endParaRPr lang="en-US" sz="1400">
              <a:solidFill>
                <a:srgbClr val="E6EEF8"/>
              </a:solidFill>
            </a:endParaRPr>
          </a:p>
          <a:p>
            <a:r>
              <a:rPr lang="en-US" sz="1600" b="1">
                <a:solidFill>
                  <a:srgbClr val="60A5FA"/>
                </a:solidFill>
              </a:rPr>
              <a:t>Q3. DEVELOPMENT (25 Marks)</a:t>
            </a:r>
          </a:p>
          <a:p>
            <a:r>
              <a:rPr lang="en-US" sz="1400">
                <a:solidFill>
                  <a:srgbClr val="E6EEF8"/>
                </a:solidFill>
              </a:rPr>
              <a:t>      Code Features Summary</a:t>
            </a:r>
          </a:p>
          <a:p>
            <a:endParaRPr lang="en-US" sz="1400">
              <a:solidFill>
                <a:srgbClr val="E6EEF8"/>
              </a:solidFill>
            </a:endParaRPr>
          </a:p>
          <a:p>
            <a:r>
              <a:rPr lang="en-US" sz="1600" b="1">
                <a:solidFill>
                  <a:srgbClr val="60A5FA"/>
                </a:solidFill>
              </a:rPr>
              <a:t>Q4. QUALITY ASSURANCE (5 Marks)</a:t>
            </a:r>
          </a:p>
          <a:p>
            <a:r>
              <a:rPr lang="en-US" sz="1400">
                <a:solidFill>
                  <a:srgbClr val="E6EEF8"/>
                </a:solidFill>
              </a:rPr>
              <a:t>      Browser &amp; Usability Testing</a:t>
            </a:r>
          </a:p>
        </p:txBody>
      </p:sp>
    </p:spTree>
    <p:extLst>
      <p:ext uri="{BB962C8B-B14F-4D97-AF65-F5344CB8AC3E}">
        <p14:creationId xmlns:p14="http://schemas.microsoft.com/office/powerpoint/2010/main" val="205247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9A1939-E663-401D-8155-B479C614C73D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Q1: CONCEPTION &amp;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2C7F4-674F-4CEE-B49F-6C149F5A5EF6}"/>
              </a:ext>
            </a:extLst>
          </p:cNvPr>
          <p:cNvSpPr txBox="1"/>
          <p:nvPr/>
        </p:nvSpPr>
        <p:spPr>
          <a:xfrm>
            <a:off x="508000" y="698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6EE7B7"/>
                </a:solidFill>
              </a:rPr>
              <a:t>Company Profile &amp; Purpose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A9A26-4F79-4FD4-AC28-19DB5A8FCFAC}"/>
              </a:ext>
            </a:extLst>
          </p:cNvPr>
          <p:cNvSpPr txBox="1"/>
          <p:nvPr/>
        </p:nvSpPr>
        <p:spPr>
          <a:xfrm>
            <a:off x="508000" y="1270000"/>
            <a:ext cx="5334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60A5FA"/>
                </a:solidFill>
              </a:rPr>
              <a:t>Company: Inner Circle Electricals</a:t>
            </a:r>
          </a:p>
          <a:p>
            <a:r>
              <a:rPr lang="en-US" sz="1100">
                <a:solidFill>
                  <a:srgbClr val="E6EEF8"/>
                </a:solidFill>
              </a:rPr>
              <a:t>Industry: Electrical Services &amp; Mounting Solutions</a:t>
            </a:r>
          </a:p>
          <a:p>
            <a:endParaRPr lang="en-US" sz="1100">
              <a:solidFill>
                <a:srgbClr val="E6EEF8"/>
              </a:solidFill>
            </a:endParaRPr>
          </a:p>
          <a:p>
            <a:r>
              <a:rPr lang="en-US" sz="1100">
                <a:solidFill>
                  <a:srgbClr val="E6EEF8"/>
                </a:solidFill>
              </a:rPr>
              <a:t>Student-run company based in Kesses, serving Moi University residential areas.</a:t>
            </a:r>
          </a:p>
          <a:p>
            <a:endParaRPr lang="en-US" sz="1100">
              <a:solidFill>
                <a:srgbClr val="E6EEF8"/>
              </a:solidFill>
            </a:endParaRPr>
          </a:p>
          <a:p>
            <a:r>
              <a:rPr lang="en-US" sz="1100" b="1">
                <a:solidFill>
                  <a:srgbClr val="6EE7B7"/>
                </a:solidFill>
              </a:rPr>
              <a:t>Key Services:</a:t>
            </a:r>
          </a:p>
          <a:p>
            <a:r>
              <a:rPr lang="en-US" sz="1100">
                <a:solidFill>
                  <a:srgbClr val="E6EEF8"/>
                </a:solidFill>
              </a:rPr>
              <a:t>  - Socket &amp; switch repair</a:t>
            </a:r>
          </a:p>
          <a:p>
            <a:r>
              <a:rPr lang="en-US" sz="1100">
                <a:solidFill>
                  <a:srgbClr val="E6EEF8"/>
                </a:solidFill>
              </a:rPr>
              <a:t>  - Shower head installation</a:t>
            </a:r>
          </a:p>
          <a:p>
            <a:r>
              <a:rPr lang="en-US" sz="1100">
                <a:solidFill>
                  <a:srgbClr val="E6EEF8"/>
                </a:solidFill>
              </a:rPr>
              <a:t>  - TV wall mounting</a:t>
            </a:r>
          </a:p>
          <a:p>
            <a:r>
              <a:rPr lang="en-US" sz="1100">
                <a:solidFill>
                  <a:srgbClr val="E6EEF8"/>
                </a:solidFill>
              </a:rPr>
              <a:t>  - LED strip re-mounting</a:t>
            </a:r>
          </a:p>
          <a:p>
            <a:r>
              <a:rPr lang="en-US" sz="1100">
                <a:solidFill>
                  <a:srgbClr val="E6EEF8"/>
                </a:solidFill>
              </a:rPr>
              <a:t>  - Custom budget study lamps</a:t>
            </a:r>
          </a:p>
          <a:p>
            <a:r>
              <a:rPr lang="en-US" sz="1100">
                <a:solidFill>
                  <a:srgbClr val="E6EEF8"/>
                </a:solidFill>
              </a:rPr>
              <a:t>  - Wiring inspections</a:t>
            </a:r>
          </a:p>
          <a:p>
            <a:r>
              <a:rPr lang="en-US" sz="1100">
                <a:solidFill>
                  <a:srgbClr val="E6EEF8"/>
                </a:solidFill>
              </a:rPr>
              <a:t>  - Hook &amp; shelf mounting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352B7E-C919-427C-8198-4F5D65159E82}"/>
              </a:ext>
            </a:extLst>
          </p:cNvPr>
          <p:cNvSpPr/>
          <p:nvPr/>
        </p:nvSpPr>
        <p:spPr>
          <a:xfrm>
            <a:off x="6223000" y="1270000"/>
            <a:ext cx="5334000" cy="2032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0500" tIns="127000" rtlCol="0" anchor="ctr"/>
          <a:lstStyle/>
          <a:p>
            <a:pPr algn="ctr"/>
            <a:r>
              <a:rPr lang="en-US" sz="1200" b="1">
                <a:solidFill>
                  <a:srgbClr val="6EE7B7"/>
                </a:solidFill>
              </a:rPr>
              <a:t>KEY DIFFERENTIATOR</a:t>
            </a:r>
          </a:p>
          <a:p>
            <a:pPr algn="ctr"/>
            <a:endParaRPr lang="en-US" sz="1000">
              <a:solidFill>
                <a:srgbClr val="E6EEF8"/>
              </a:solidFill>
            </a:endParaRPr>
          </a:p>
          <a:p>
            <a:pPr algn="ctr"/>
            <a:r>
              <a:rPr lang="en-US" sz="1000">
                <a:solidFill>
                  <a:srgbClr val="E6EEF8"/>
                </a:solidFill>
              </a:rPr>
              <a:t>Proper, calibrated professional tools: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  - Digital multimeters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  - Voltage testers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  - Cordless power drills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  - Spirit levels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  - Wire strippers &amp; cable testers</a:t>
            </a:r>
          </a:p>
        </p:txBody>
      </p:sp>
    </p:spTree>
    <p:extLst>
      <p:ext uri="{BB962C8B-B14F-4D97-AF65-F5344CB8AC3E}">
        <p14:creationId xmlns:p14="http://schemas.microsoft.com/office/powerpoint/2010/main" val="325878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0F0A7F-1ACE-4C56-8911-9E370C9C2E90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Q1: CONCEPTION &amp;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D18F6-C3B4-40FC-B312-85B5D6DF7578}"/>
              </a:ext>
            </a:extLst>
          </p:cNvPr>
          <p:cNvSpPr txBox="1"/>
          <p:nvPr/>
        </p:nvSpPr>
        <p:spPr>
          <a:xfrm>
            <a:off x="508000" y="698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6EE7B7"/>
                </a:solidFill>
              </a:rPr>
              <a:t>Primary Goals of the Website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B9ABDF-2417-40E6-87EC-DD9B5F2B5D65}"/>
              </a:ext>
            </a:extLst>
          </p:cNvPr>
          <p:cNvSpPr/>
          <p:nvPr/>
        </p:nvSpPr>
        <p:spPr>
          <a:xfrm>
            <a:off x="508000" y="1333500"/>
            <a:ext cx="3556000" cy="1397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23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/>
            <a:r>
              <a:rPr lang="en-US" sz="1200" b="1">
                <a:solidFill>
                  <a:srgbClr val="60A5FA"/>
                </a:solidFill>
              </a:rPr>
              <a:t>1. Brand Awareness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Digital storefront for local community credibility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8D6BA9-90F6-407E-A087-BF5C069E6528}"/>
              </a:ext>
            </a:extLst>
          </p:cNvPr>
          <p:cNvSpPr/>
          <p:nvPr/>
        </p:nvSpPr>
        <p:spPr>
          <a:xfrm>
            <a:off x="4254500" y="1333500"/>
            <a:ext cx="3556000" cy="1397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23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/>
            <a:r>
              <a:rPr lang="en-US" sz="1200" b="1">
                <a:solidFill>
                  <a:srgbClr val="60A5FA"/>
                </a:solidFill>
              </a:rPr>
              <a:t>2. Lead Generation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CTAs: Request a Quote, Book a Service, Call Us Now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AB3759-1561-48A1-9EFD-0E2E903816C1}"/>
              </a:ext>
            </a:extLst>
          </p:cNvPr>
          <p:cNvSpPr/>
          <p:nvPr/>
        </p:nvSpPr>
        <p:spPr>
          <a:xfrm>
            <a:off x="8001000" y="1333500"/>
            <a:ext cx="3556000" cy="1397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23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/>
            <a:r>
              <a:rPr lang="en-US" sz="1200" b="1">
                <a:solidFill>
                  <a:srgbClr val="60A5FA"/>
                </a:solidFill>
              </a:rPr>
              <a:t>3. Online Sales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Purchase bulbs, sockets, cables, shower heads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34FE08-C7DF-462E-BEDB-D82144EF1024}"/>
              </a:ext>
            </a:extLst>
          </p:cNvPr>
          <p:cNvSpPr/>
          <p:nvPr/>
        </p:nvSpPr>
        <p:spPr>
          <a:xfrm>
            <a:off x="508000" y="2882900"/>
            <a:ext cx="3556000" cy="1397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23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/>
            <a:r>
              <a:rPr lang="en-US" sz="1200" b="1">
                <a:solidFill>
                  <a:srgbClr val="60A5FA"/>
                </a:solidFill>
              </a:rPr>
              <a:t>4. Transparency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Clear pricing guide - know costs before engaging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CFAE0A-3107-4B84-8C87-C5255109F424}"/>
              </a:ext>
            </a:extLst>
          </p:cNvPr>
          <p:cNvSpPr/>
          <p:nvPr/>
        </p:nvSpPr>
        <p:spPr>
          <a:xfrm>
            <a:off x="4254500" y="2882900"/>
            <a:ext cx="3556000" cy="1397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23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/>
            <a:r>
              <a:rPr lang="en-US" sz="1200" b="1">
                <a:solidFill>
                  <a:srgbClr val="60A5FA"/>
                </a:solidFill>
              </a:rPr>
              <a:t>5. Portfolio &amp; Social Proof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Before/after gallery with testimonials &amp; ratings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6FF7EE-D812-483E-95C8-EC9203EA401D}"/>
              </a:ext>
            </a:extLst>
          </p:cNvPr>
          <p:cNvSpPr/>
          <p:nvPr/>
        </p:nvSpPr>
        <p:spPr>
          <a:xfrm>
            <a:off x="8001000" y="2882900"/>
            <a:ext cx="3556000" cy="1397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23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/>
            <a:r>
              <a:rPr lang="en-US" sz="1200" b="1">
                <a:solidFill>
                  <a:srgbClr val="60A5FA"/>
                </a:solidFill>
              </a:rPr>
              <a:t>6. Contact &amp; Accessibility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Phone, WhatsApp, email, location, hours displayed</a:t>
            </a:r>
          </a:p>
        </p:txBody>
      </p:sp>
    </p:spTree>
    <p:extLst>
      <p:ext uri="{BB962C8B-B14F-4D97-AF65-F5344CB8AC3E}">
        <p14:creationId xmlns:p14="http://schemas.microsoft.com/office/powerpoint/2010/main" val="153251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189F87-E7CA-47D7-ABB2-4DD62D0D8163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Q1: DESIGN THINKING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05464-1275-48D2-A120-C0983AB21028}"/>
              </a:ext>
            </a:extLst>
          </p:cNvPr>
          <p:cNvSpPr txBox="1"/>
          <p:nvPr/>
        </p:nvSpPr>
        <p:spPr>
          <a:xfrm>
            <a:off x="508000" y="698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6EE7B7"/>
                </a:solidFill>
              </a:rPr>
              <a:t>Target Audience &amp; Pain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473E58-94BD-4EF0-82F4-1A337B7A2A14}"/>
              </a:ext>
            </a:extLst>
          </p:cNvPr>
          <p:cNvSpPr txBox="1"/>
          <p:nvPr/>
        </p:nvSpPr>
        <p:spPr>
          <a:xfrm>
            <a:off x="508000" y="1270000"/>
            <a:ext cx="5334000" cy="240065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EE7B7"/>
                </a:solidFill>
              </a:rPr>
              <a:t>PRIMARY USERS:</a:t>
            </a:r>
          </a:p>
          <a:p>
            <a:r>
              <a:rPr lang="en-US" sz="1000">
                <a:solidFill>
                  <a:srgbClr val="E6EEF8"/>
                </a:solidFill>
              </a:rPr>
              <a:t>Students off-campus around Moi University</a:t>
            </a:r>
          </a:p>
          <a:p>
            <a:r>
              <a:rPr lang="en-US" sz="1000">
                <a:solidFill>
                  <a:srgbClr val="E6EEF8"/>
                </a:solidFill>
              </a:rPr>
              <a:t>(Chebarus, Talai, Mabs, Mosop, Ohspak)</a:t>
            </a:r>
          </a:p>
          <a:p>
            <a:r>
              <a:rPr lang="en-US" sz="1000">
                <a:solidFill>
                  <a:srgbClr val="E6EEF8"/>
                </a:solidFill>
              </a:rPr>
              <a:t>Ages 18-27, smartphone-first, budget-conscious</a:t>
            </a:r>
          </a:p>
          <a:p>
            <a:endParaRPr lang="en-US" sz="1000">
              <a:solidFill>
                <a:srgbClr val="E6EEF8"/>
              </a:solidFill>
            </a:endParaRPr>
          </a:p>
          <a:p>
            <a:r>
              <a:rPr lang="en-US" sz="1000" b="1">
                <a:solidFill>
                  <a:srgbClr val="6EE7B7"/>
                </a:solidFill>
              </a:rPr>
              <a:t>SECONDARY USERS:</a:t>
            </a:r>
          </a:p>
          <a:p>
            <a:r>
              <a:rPr lang="en-US" sz="1000">
                <a:solidFill>
                  <a:srgbClr val="E6EEF8"/>
                </a:solidFill>
              </a:rPr>
              <a:t>  - Landlords &amp; caretakers</a:t>
            </a:r>
          </a:p>
          <a:p>
            <a:r>
              <a:rPr lang="en-US" sz="1000">
                <a:solidFill>
                  <a:srgbClr val="E6EEF8"/>
                </a:solidFill>
              </a:rPr>
              <a:t>  - Local small business owners</a:t>
            </a:r>
          </a:p>
          <a:p>
            <a:endParaRPr lang="en-US" sz="1000">
              <a:solidFill>
                <a:srgbClr val="E6EEF8"/>
              </a:solidFill>
            </a:endParaRPr>
          </a:p>
          <a:p>
            <a:r>
              <a:rPr lang="en-US" sz="1000" b="1">
                <a:solidFill>
                  <a:srgbClr val="6EE7B7"/>
                </a:solidFill>
              </a:rPr>
              <a:t>WHAT THEY NEED:</a:t>
            </a:r>
          </a:p>
          <a:p>
            <a:r>
              <a:rPr lang="en-US" sz="1000">
                <a:solidFill>
                  <a:srgbClr val="E6EEF8"/>
                </a:solidFill>
              </a:rPr>
              <a:t>  - Fast, same-day repair</a:t>
            </a:r>
          </a:p>
          <a:p>
            <a:r>
              <a:rPr lang="en-US" sz="1000">
                <a:solidFill>
                  <a:srgbClr val="E6EEF8"/>
                </a:solidFill>
              </a:rPr>
              <a:t>  - Affordable, transparent pricing</a:t>
            </a:r>
          </a:p>
          <a:p>
            <a:r>
              <a:rPr lang="en-US" sz="1000">
                <a:solidFill>
                  <a:srgbClr val="E6EEF8"/>
                </a:solidFill>
              </a:rPr>
              <a:t>  - Easy WhatsApp/phone contact</a:t>
            </a:r>
          </a:p>
          <a:p>
            <a:r>
              <a:rPr lang="en-US" sz="1000">
                <a:solidFill>
                  <a:srgbClr val="E6EEF8"/>
                </a:solidFill>
              </a:rPr>
              <a:t>  - Quality assurance via reviews</a:t>
            </a:r>
          </a:p>
          <a:p>
            <a:r>
              <a:rPr lang="en-US" sz="1000">
                <a:solidFill>
                  <a:srgbClr val="E6EEF8"/>
                </a:solidFill>
              </a:rPr>
              <a:t>  - Budget custom solutions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FEBDB3-7396-4599-8314-325B6D7F8A59}"/>
              </a:ext>
            </a:extLst>
          </p:cNvPr>
          <p:cNvSpPr/>
          <p:nvPr/>
        </p:nvSpPr>
        <p:spPr>
          <a:xfrm>
            <a:off x="6223000" y="1270000"/>
            <a:ext cx="5334000" cy="5207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C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tlCol="0" anchor="ctr"/>
          <a:lstStyle/>
          <a:p>
            <a:pPr algn="ctr"/>
            <a:r>
              <a:rPr lang="en-US" sz="1300" b="1">
                <a:solidFill>
                  <a:srgbClr val="FF6464"/>
                </a:solidFill>
              </a:rPr>
              <a:t>8 KEY PAIN POINTS</a:t>
            </a:r>
          </a:p>
          <a:p>
            <a:pPr algn="ctr"/>
            <a:endParaRPr lang="en-US" sz="1000">
              <a:solidFill>
                <a:srgbClr val="E6EEF8"/>
              </a:solidFill>
            </a:endParaRPr>
          </a:p>
          <a:p>
            <a:pPr algn="ctr"/>
            <a:r>
              <a:rPr lang="en-US" sz="1000">
                <a:solidFill>
                  <a:srgbClr val="E6EEF8"/>
                </a:solidFill>
              </a:rPr>
              <a:t>1. No awareness of local electricians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2. Fear of being overcharged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3. Difficulty reaching providers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4. Delayed/unreliable scheduling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5. No quality verification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6. Safety risks from DIY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7. Improvised tools by competitors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8. No budget-friendly custom solutions</a:t>
            </a:r>
          </a:p>
        </p:txBody>
      </p:sp>
    </p:spTree>
    <p:extLst>
      <p:ext uri="{BB962C8B-B14F-4D97-AF65-F5344CB8AC3E}">
        <p14:creationId xmlns:p14="http://schemas.microsoft.com/office/powerpoint/2010/main" val="265791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B32553-2DBE-4B77-9398-7202D8A43960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Q1: DESIGN THINKING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6D297-08F5-410A-8C44-AD4768AD5B64}"/>
              </a:ext>
            </a:extLst>
          </p:cNvPr>
          <p:cNvSpPr txBox="1"/>
          <p:nvPr/>
        </p:nvSpPr>
        <p:spPr>
          <a:xfrm>
            <a:off x="508000" y="698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6EE7B7"/>
                </a:solidFill>
              </a:rPr>
              <a:t>Define, Ideate, Prototype &amp; Test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577920-1B19-4359-BB7F-D44EE8F1AB04}"/>
              </a:ext>
            </a:extLst>
          </p:cNvPr>
          <p:cNvSpPr/>
          <p:nvPr/>
        </p:nvSpPr>
        <p:spPr>
          <a:xfrm>
            <a:off x="508000" y="1270000"/>
            <a:ext cx="11176000" cy="698500"/>
          </a:xfrm>
          <a:prstGeom prst="roundRect">
            <a:avLst/>
          </a:prstGeom>
          <a:solidFill>
            <a:srgbClr val="1E0F0F"/>
          </a:solidFill>
          <a:ln w="12700">
            <a:solidFill>
              <a:srgbClr val="FF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tlCol="0" anchor="ctr"/>
          <a:lstStyle/>
          <a:p>
            <a:pPr algn="ctr"/>
            <a:r>
              <a:rPr lang="en-US" sz="1000" i="1">
                <a:solidFill>
                  <a:srgbClr val="E6EEF8"/>
                </a:solidFill>
              </a:rPr>
              <a:t>PROBLEM: Students lack a reliable, transparent platform to find affordable electrical, mounting, and custom lighting services.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ACCE2F-6000-4D28-8226-08F9B71CCB1B}"/>
              </a:ext>
            </a:extLst>
          </p:cNvPr>
          <p:cNvSpPr/>
          <p:nvPr/>
        </p:nvSpPr>
        <p:spPr>
          <a:xfrm>
            <a:off x="508000" y="2159000"/>
            <a:ext cx="3556000" cy="952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</a:rPr>
              <a:t>Feature 1: Service Request Form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Online form + WhatsApp integration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AB684C-497C-46A9-9904-CE5612EBC33B}"/>
              </a:ext>
            </a:extLst>
          </p:cNvPr>
          <p:cNvSpPr/>
          <p:nvPr/>
        </p:nvSpPr>
        <p:spPr>
          <a:xfrm>
            <a:off x="4254500" y="2159000"/>
            <a:ext cx="3556000" cy="952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</a:rPr>
              <a:t>Feature 2: Transparent Pricing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All services with price ranges listed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4223BC-1339-46FF-AE7F-099BD55EA77D}"/>
              </a:ext>
            </a:extLst>
          </p:cNvPr>
          <p:cNvSpPr/>
          <p:nvPr/>
        </p:nvSpPr>
        <p:spPr>
          <a:xfrm>
            <a:off x="8001000" y="2159000"/>
            <a:ext cx="3556000" cy="952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</a:rPr>
              <a:t>Feature 3: Portfolio Gallery</a:t>
            </a:r>
          </a:p>
          <a:p>
            <a:pPr algn="ctr"/>
            <a:r>
              <a:rPr lang="en-US" sz="1000">
                <a:solidFill>
                  <a:srgbClr val="E6EEF8"/>
                </a:solidFill>
              </a:rPr>
              <a:t>Before/after photos + testimonials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8B606-7D7A-43BB-B6AB-44D5C787510E}"/>
              </a:ext>
            </a:extLst>
          </p:cNvPr>
          <p:cNvSpPr txBox="1"/>
          <p:nvPr/>
        </p:nvSpPr>
        <p:spPr>
          <a:xfrm>
            <a:off x="508000" y="3302000"/>
            <a:ext cx="5334000" cy="1046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6EE7B7"/>
                </a:solidFill>
              </a:rPr>
              <a:t>PROTOTYPE:</a:t>
            </a:r>
          </a:p>
          <a:p>
            <a:r>
              <a:rPr lang="en-US" sz="1000">
                <a:solidFill>
                  <a:srgbClr val="E6EEF8"/>
                </a:solidFill>
              </a:rPr>
              <a:t>  - Paper wireframes</a:t>
            </a:r>
          </a:p>
          <a:p>
            <a:r>
              <a:rPr lang="en-US" sz="1000">
                <a:solidFill>
                  <a:srgbClr val="E6EEF8"/>
                </a:solidFill>
              </a:rPr>
              <a:t>  - Figma digital wireframes</a:t>
            </a:r>
          </a:p>
          <a:p>
            <a:r>
              <a:rPr lang="en-US" sz="1000">
                <a:solidFill>
                  <a:srgbClr val="E6EEF8"/>
                </a:solidFill>
              </a:rPr>
              <a:t>  - High-fidelity dark theme mockup</a:t>
            </a:r>
          </a:p>
          <a:p>
            <a:r>
              <a:rPr lang="en-US" sz="1000">
                <a:solidFill>
                  <a:srgbClr val="E6EEF8"/>
                </a:solidFill>
              </a:rPr>
              <a:t>  - Single-page architecture</a:t>
            </a:r>
          </a:p>
          <a:p>
            <a:r>
              <a:rPr lang="en-US" sz="1000">
                <a:solidFill>
                  <a:srgbClr val="E6EEF8"/>
                </a:solidFill>
              </a:rPr>
              <a:t>  - Mobile-first (375/768/1024px)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AA4F9-83DD-430B-B31D-58212F23B293}"/>
              </a:ext>
            </a:extLst>
          </p:cNvPr>
          <p:cNvSpPr txBox="1"/>
          <p:nvPr/>
        </p:nvSpPr>
        <p:spPr>
          <a:xfrm>
            <a:off x="6223000" y="3302000"/>
            <a:ext cx="5334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6EE7B7"/>
                </a:solidFill>
              </a:rPr>
              <a:t>SUCCESS METRICS:</a:t>
            </a:r>
          </a:p>
          <a:p>
            <a:r>
              <a:rPr lang="en-US" sz="1000">
                <a:solidFill>
                  <a:srgbClr val="E6EEF8"/>
                </a:solidFill>
              </a:rPr>
              <a:t>  - 100+ monthly visitors (3 months)</a:t>
            </a:r>
          </a:p>
          <a:p>
            <a:r>
              <a:rPr lang="en-US" sz="1000">
                <a:solidFill>
                  <a:srgbClr val="E6EEF8"/>
                </a:solidFill>
              </a:rPr>
              <a:t>  - 10+ service requests/month</a:t>
            </a:r>
          </a:p>
          <a:p>
            <a:r>
              <a:rPr lang="en-US" sz="1000">
                <a:solidFill>
                  <a:srgbClr val="E6EEF8"/>
                </a:solidFill>
              </a:rPr>
              <a:t>  - &gt;2 min avg time on site</a:t>
            </a:r>
          </a:p>
          <a:p>
            <a:r>
              <a:rPr lang="en-US" sz="1000">
                <a:solidFill>
                  <a:srgbClr val="E6EEF8"/>
                </a:solidFill>
              </a:rPr>
              <a:t>  - &lt;60% bounce rate</a:t>
            </a:r>
          </a:p>
          <a:p>
            <a:r>
              <a:rPr lang="en-US" sz="1000">
                <a:solidFill>
                  <a:srgbClr val="E6EEF8"/>
                </a:solidFill>
              </a:rPr>
              <a:t>  - &gt;4/5 customer satisfaction</a:t>
            </a:r>
          </a:p>
          <a:p>
            <a:r>
              <a:rPr lang="en-US" sz="1000">
                <a:solidFill>
                  <a:srgbClr val="E6EEF8"/>
                </a:solidFill>
              </a:rPr>
              <a:t>  - &gt;10% conversion rate</a:t>
            </a:r>
          </a:p>
        </p:txBody>
      </p:sp>
    </p:spTree>
    <p:extLst>
      <p:ext uri="{BB962C8B-B14F-4D97-AF65-F5344CB8AC3E}">
        <p14:creationId xmlns:p14="http://schemas.microsoft.com/office/powerpoint/2010/main" val="56277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5FB269-CEAA-42E0-8F72-3C2FB72F0292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D4A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</a:rPr>
              <a:t>Q2: ARCHITECTURE &amp;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B950A-FB6E-4E47-B7F6-826C0EF55381}"/>
              </a:ext>
            </a:extLst>
          </p:cNvPr>
          <p:cNvSpPr txBox="1"/>
          <p:nvPr/>
        </p:nvSpPr>
        <p:spPr>
          <a:xfrm>
            <a:off x="508000" y="698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6EE7B7"/>
                </a:solidFill>
              </a:rPr>
              <a:t>Information Gathering &amp; Color Scheme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4A68D-A54D-47D3-880F-BF0A01EBAEA4}"/>
              </a:ext>
            </a:extLst>
          </p:cNvPr>
          <p:cNvSpPr txBox="1"/>
          <p:nvPr/>
        </p:nvSpPr>
        <p:spPr>
          <a:xfrm>
            <a:off x="508000" y="1270000"/>
            <a:ext cx="5334000" cy="14157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6EE7B7"/>
                </a:solidFill>
              </a:rPr>
              <a:t>5 REQUIRED INFO PIECES:</a:t>
            </a:r>
          </a:p>
          <a:p>
            <a:endParaRPr lang="en-US" sz="1200">
              <a:solidFill>
                <a:srgbClr val="E6EEF8"/>
              </a:solidFill>
            </a:endParaRPr>
          </a:p>
          <a:p>
            <a:r>
              <a:rPr lang="en-US" sz="1200">
                <a:solidFill>
                  <a:srgbClr val="E6EEF8"/>
                </a:solidFill>
              </a:rPr>
              <a:t>1. Complete Service List + Pricing</a:t>
            </a:r>
          </a:p>
          <a:p>
            <a:r>
              <a:rPr lang="en-US" sz="1200">
                <a:solidFill>
                  <a:srgbClr val="E6EEF8"/>
                </a:solidFill>
              </a:rPr>
              <a:t>2. High-Quality Work Photos</a:t>
            </a:r>
          </a:p>
          <a:p>
            <a:r>
              <a:rPr lang="en-US" sz="1200">
                <a:solidFill>
                  <a:srgbClr val="E6EEF8"/>
                </a:solidFill>
              </a:rPr>
              <a:t>3. Team Member Profiles (5 members)</a:t>
            </a:r>
          </a:p>
          <a:p>
            <a:r>
              <a:rPr lang="en-US" sz="1200">
                <a:solidFill>
                  <a:srgbClr val="E6EEF8"/>
                </a:solidFill>
              </a:rPr>
              <a:t>4. Contact Info &amp; Service Areas</a:t>
            </a:r>
          </a:p>
          <a:p>
            <a:r>
              <a:rPr lang="en-US" sz="1200">
                <a:solidFill>
                  <a:srgbClr val="E6EEF8"/>
                </a:solidFill>
              </a:rPr>
              <a:t>5. Testimonials &amp; Tool Inventory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3A5FE-86A8-4739-9D21-B8EB78DEA8A9}"/>
              </a:ext>
            </a:extLst>
          </p:cNvPr>
          <p:cNvSpPr txBox="1"/>
          <p:nvPr/>
        </p:nvSpPr>
        <p:spPr>
          <a:xfrm>
            <a:off x="6223000" y="1270000"/>
            <a:ext cx="533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6EE7B7"/>
                </a:solidFill>
              </a:rPr>
              <a:t>COLOR SCHEME: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3C1045-5566-4408-8AF9-2D985BF1FB88}"/>
              </a:ext>
            </a:extLst>
          </p:cNvPr>
          <p:cNvSpPr/>
          <p:nvPr/>
        </p:nvSpPr>
        <p:spPr>
          <a:xfrm>
            <a:off x="6223000" y="1651000"/>
            <a:ext cx="381000" cy="381000"/>
          </a:xfrm>
          <a:prstGeom prst="roundRect">
            <a:avLst/>
          </a:prstGeom>
          <a:solidFill>
            <a:srgbClr val="0F17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B43C8-3516-4219-B783-395F08BCFBD0}"/>
              </a:ext>
            </a:extLst>
          </p:cNvPr>
          <p:cNvSpPr txBox="1"/>
          <p:nvPr/>
        </p:nvSpPr>
        <p:spPr>
          <a:xfrm>
            <a:off x="6705600" y="16510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E6EEF8"/>
                </a:solidFill>
              </a:rPr>
              <a:t>Primary BG  #0F1724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5FA4B8-E9C8-4BBB-A48B-6ADFEB8A2009}"/>
              </a:ext>
            </a:extLst>
          </p:cNvPr>
          <p:cNvSpPr/>
          <p:nvPr/>
        </p:nvSpPr>
        <p:spPr>
          <a:xfrm>
            <a:off x="6223000" y="2133600"/>
            <a:ext cx="381000" cy="381000"/>
          </a:xfrm>
          <a:prstGeom prst="round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6402F-7009-4839-878A-D8204FF3A3FD}"/>
              </a:ext>
            </a:extLst>
          </p:cNvPr>
          <p:cNvSpPr txBox="1"/>
          <p:nvPr/>
        </p:nvSpPr>
        <p:spPr>
          <a:xfrm>
            <a:off x="6705600" y="21336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E6EEF8"/>
                </a:solidFill>
              </a:rPr>
              <a:t>Mint Green  #6EE7B7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ED9493-3B7F-46CB-BC42-D71DA8E5BA5F}"/>
              </a:ext>
            </a:extLst>
          </p:cNvPr>
          <p:cNvSpPr/>
          <p:nvPr/>
        </p:nvSpPr>
        <p:spPr>
          <a:xfrm>
            <a:off x="6223000" y="2616200"/>
            <a:ext cx="381000" cy="381000"/>
          </a:xfrm>
          <a:prstGeom prst="round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92752-3D8B-45ED-B6D7-958CBFC16F9C}"/>
              </a:ext>
            </a:extLst>
          </p:cNvPr>
          <p:cNvSpPr txBox="1"/>
          <p:nvPr/>
        </p:nvSpPr>
        <p:spPr>
          <a:xfrm>
            <a:off x="6705600" y="26162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E6EEF8"/>
                </a:solidFill>
              </a:rPr>
              <a:t>Sky Blue  #60A5FA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6047CB-86F9-4C16-B8DD-F2A8390809E7}"/>
              </a:ext>
            </a:extLst>
          </p:cNvPr>
          <p:cNvSpPr/>
          <p:nvPr/>
        </p:nvSpPr>
        <p:spPr>
          <a:xfrm>
            <a:off x="6223000" y="3098800"/>
            <a:ext cx="381000" cy="381000"/>
          </a:xfrm>
          <a:prstGeom prst="roundRect">
            <a:avLst/>
          </a:prstGeom>
          <a:solidFill>
            <a:srgbClr val="282D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9C7B03-B4F2-4555-9B89-348D8E62A1B5}"/>
              </a:ext>
            </a:extLst>
          </p:cNvPr>
          <p:cNvSpPr txBox="1"/>
          <p:nvPr/>
        </p:nvSpPr>
        <p:spPr>
          <a:xfrm>
            <a:off x="6705600" y="30988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E6EEF8"/>
                </a:solidFill>
              </a:rPr>
              <a:t>Glass Surface  rgba semi-transparent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7B3E3C-B2C2-4ADF-915A-415F0B44EFCD}"/>
              </a:ext>
            </a:extLst>
          </p:cNvPr>
          <p:cNvSpPr/>
          <p:nvPr/>
        </p:nvSpPr>
        <p:spPr>
          <a:xfrm>
            <a:off x="6223000" y="3581400"/>
            <a:ext cx="381000" cy="381000"/>
          </a:xfrm>
          <a:prstGeom prst="roundRect">
            <a:avLst/>
          </a:prstGeom>
          <a:solidFill>
            <a:srgbClr val="E6EEF8"/>
          </a:solidFill>
          <a:ln>
            <a:solidFill>
              <a:srgbClr val="9CA3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B1A0A3-7CCB-4DCA-95A5-89610B159A5E}"/>
              </a:ext>
            </a:extLst>
          </p:cNvPr>
          <p:cNvSpPr txBox="1"/>
          <p:nvPr/>
        </p:nvSpPr>
        <p:spPr>
          <a:xfrm>
            <a:off x="6705600" y="35814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E6EEF8"/>
                </a:solidFill>
              </a:rPr>
              <a:t>Light Text  #E6EEF8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93317A6-7DE6-4616-95F2-3F77C16578A3}"/>
              </a:ext>
            </a:extLst>
          </p:cNvPr>
          <p:cNvSpPr/>
          <p:nvPr/>
        </p:nvSpPr>
        <p:spPr>
          <a:xfrm>
            <a:off x="6223000" y="4064000"/>
            <a:ext cx="381000" cy="381000"/>
          </a:xfrm>
          <a:prstGeom prst="round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A1100-5263-4297-BB6C-E08CA2D406CF}"/>
              </a:ext>
            </a:extLst>
          </p:cNvPr>
          <p:cNvSpPr txBox="1"/>
          <p:nvPr/>
        </p:nvSpPr>
        <p:spPr>
          <a:xfrm>
            <a:off x="6705600" y="40640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E6EEF8"/>
                </a:solidFill>
              </a:rPr>
              <a:t>Muted Text  #9CA3AF</a:t>
            </a:r>
          </a:p>
        </p:txBody>
      </p:sp>
    </p:spTree>
    <p:extLst>
      <p:ext uri="{BB962C8B-B14F-4D97-AF65-F5344CB8AC3E}">
        <p14:creationId xmlns:p14="http://schemas.microsoft.com/office/powerpoint/2010/main" val="396338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06974E-9F55-4EAF-A3DE-6CC438C78F36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D4A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</a:rPr>
              <a:t>Q2: ARCHITECTURE &amp;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8D6EC-4E09-49B0-A737-6C59A03633C4}"/>
              </a:ext>
            </a:extLst>
          </p:cNvPr>
          <p:cNvSpPr txBox="1"/>
          <p:nvPr/>
        </p:nvSpPr>
        <p:spPr>
          <a:xfrm>
            <a:off x="508000" y="698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6EE7B7"/>
                </a:solidFill>
              </a:rPr>
              <a:t>Single-Page Architecture - 8 Sections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1710D4-FF21-4495-A347-EB281CFA608A}"/>
              </a:ext>
            </a:extLst>
          </p:cNvPr>
          <p:cNvSpPr/>
          <p:nvPr/>
        </p:nvSpPr>
        <p:spPr>
          <a:xfrm>
            <a:off x="508000" y="1397000"/>
            <a:ext cx="2667000" cy="698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E6EEF8"/>
                </a:solidFill>
              </a:rPr>
              <a:t>HOME/HERO</a:t>
            </a:r>
          </a:p>
          <a:p>
            <a:pPr algn="ctr"/>
            <a:r>
              <a:rPr lang="en-US" sz="800">
                <a:solidFill>
                  <a:srgbClr val="9CA3AF"/>
                </a:solidFill>
              </a:rPr>
              <a:t>#hero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36B8C7-0CE6-4AD2-895B-1EDC9E542248}"/>
              </a:ext>
            </a:extLst>
          </p:cNvPr>
          <p:cNvSpPr/>
          <p:nvPr/>
        </p:nvSpPr>
        <p:spPr>
          <a:xfrm>
            <a:off x="3327400" y="1397000"/>
            <a:ext cx="2667000" cy="698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E6EEF8"/>
                </a:solidFill>
              </a:rPr>
              <a:t>SERVICES</a:t>
            </a:r>
          </a:p>
          <a:p>
            <a:pPr algn="ctr"/>
            <a:r>
              <a:rPr lang="en-US" sz="800">
                <a:solidFill>
                  <a:srgbClr val="9CA3AF"/>
                </a:solidFill>
              </a:rPr>
              <a:t>#services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9B0B77-034D-4839-A873-61F769636292}"/>
              </a:ext>
            </a:extLst>
          </p:cNvPr>
          <p:cNvSpPr/>
          <p:nvPr/>
        </p:nvSpPr>
        <p:spPr>
          <a:xfrm>
            <a:off x="6146800" y="1397000"/>
            <a:ext cx="2667000" cy="698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E6EEF8"/>
                </a:solidFill>
              </a:rPr>
              <a:t>ADVANTAGES</a:t>
            </a:r>
          </a:p>
          <a:p>
            <a:pPr algn="ctr"/>
            <a:r>
              <a:rPr lang="en-US" sz="800">
                <a:solidFill>
                  <a:srgbClr val="9CA3AF"/>
                </a:solidFill>
              </a:rPr>
              <a:t>#advantages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5F2014-9562-448D-89E9-D1D35B5F059B}"/>
              </a:ext>
            </a:extLst>
          </p:cNvPr>
          <p:cNvSpPr/>
          <p:nvPr/>
        </p:nvSpPr>
        <p:spPr>
          <a:xfrm>
            <a:off x="8966200" y="1397000"/>
            <a:ext cx="2667000" cy="698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E6EEF8"/>
                </a:solidFill>
              </a:rPr>
              <a:t>PRICING</a:t>
            </a:r>
          </a:p>
          <a:p>
            <a:pPr algn="ctr"/>
            <a:r>
              <a:rPr lang="en-US" sz="800">
                <a:solidFill>
                  <a:srgbClr val="9CA3AF"/>
                </a:solidFill>
              </a:rPr>
              <a:t>#pricing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A709FC-5E69-4081-870A-0D3992CB0E28}"/>
              </a:ext>
            </a:extLst>
          </p:cNvPr>
          <p:cNvSpPr/>
          <p:nvPr/>
        </p:nvSpPr>
        <p:spPr>
          <a:xfrm>
            <a:off x="508000" y="2349500"/>
            <a:ext cx="2667000" cy="698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E6EEF8"/>
                </a:solidFill>
              </a:rPr>
              <a:t>GALLERY</a:t>
            </a:r>
          </a:p>
          <a:p>
            <a:pPr algn="ctr"/>
            <a:r>
              <a:rPr lang="en-US" sz="800">
                <a:solidFill>
                  <a:srgbClr val="9CA3AF"/>
                </a:solidFill>
              </a:rPr>
              <a:t>#gallery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D18A0A-6AEE-42BE-B12D-C972536BEBF8}"/>
              </a:ext>
            </a:extLst>
          </p:cNvPr>
          <p:cNvSpPr/>
          <p:nvPr/>
        </p:nvSpPr>
        <p:spPr>
          <a:xfrm>
            <a:off x="3327400" y="2349500"/>
            <a:ext cx="2667000" cy="698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E6EEF8"/>
                </a:solidFill>
              </a:rPr>
              <a:t>TESTIMONIALS</a:t>
            </a:r>
          </a:p>
          <a:p>
            <a:pPr algn="ctr"/>
            <a:r>
              <a:rPr lang="en-US" sz="800">
                <a:solidFill>
                  <a:srgbClr val="9CA3AF"/>
                </a:solidFill>
              </a:rPr>
              <a:t>#testimonials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0A1543-562A-4C16-BAD6-75F31032AEF0}"/>
              </a:ext>
            </a:extLst>
          </p:cNvPr>
          <p:cNvSpPr/>
          <p:nvPr/>
        </p:nvSpPr>
        <p:spPr>
          <a:xfrm>
            <a:off x="6146800" y="2349500"/>
            <a:ext cx="2667000" cy="6985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E6EEF8"/>
                </a:solidFill>
              </a:rPr>
              <a:t>ABOUT US</a:t>
            </a:r>
          </a:p>
          <a:p>
            <a:pPr algn="ctr"/>
            <a:r>
              <a:rPr lang="en-US" sz="800">
                <a:solidFill>
                  <a:srgbClr val="9CA3AF"/>
                </a:solidFill>
              </a:rPr>
              <a:t>#about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85A1BC-6636-4689-988F-4C263D854D65}"/>
              </a:ext>
            </a:extLst>
          </p:cNvPr>
          <p:cNvSpPr/>
          <p:nvPr/>
        </p:nvSpPr>
        <p:spPr>
          <a:xfrm>
            <a:off x="8966200" y="2349500"/>
            <a:ext cx="2667000" cy="698500"/>
          </a:xfrm>
          <a:prstGeom prst="round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0F1724"/>
                </a:solidFill>
              </a:rPr>
              <a:t>CONTACT</a:t>
            </a:r>
          </a:p>
          <a:p>
            <a:pPr algn="ctr"/>
            <a:r>
              <a:rPr lang="en-US" sz="800">
                <a:solidFill>
                  <a:srgbClr val="050F19"/>
                </a:solidFill>
              </a:rPr>
              <a:t>#contact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028890-9784-4B51-AC90-B44E0FA97015}"/>
              </a:ext>
            </a:extLst>
          </p:cNvPr>
          <p:cNvSpPr txBox="1"/>
          <p:nvPr/>
        </p:nvSpPr>
        <p:spPr>
          <a:xfrm>
            <a:off x="508000" y="3429000"/>
            <a:ext cx="1117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i="1">
                <a:solidFill>
                  <a:srgbClr val="9CA3AF"/>
                </a:solidFill>
              </a:rPr>
              <a:t>All navigation uses anchor scrolling (href="#section"). Every section has a CTA to #contact. Single-page with smooth scroll.</a:t>
            </a:r>
          </a:p>
        </p:txBody>
      </p:sp>
    </p:spTree>
    <p:extLst>
      <p:ext uri="{BB962C8B-B14F-4D97-AF65-F5344CB8AC3E}">
        <p14:creationId xmlns:p14="http://schemas.microsoft.com/office/powerpoint/2010/main" val="93675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2228F7-B498-46BD-B381-EC9F28A28BD5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D4A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</a:rPr>
              <a:t>Q2: ARCHITECTURE &amp;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A3268-F28D-4642-BDA0-752DC80181C5}"/>
              </a:ext>
            </a:extLst>
          </p:cNvPr>
          <p:cNvSpPr txBox="1"/>
          <p:nvPr/>
        </p:nvSpPr>
        <p:spPr>
          <a:xfrm>
            <a:off x="508000" y="698500"/>
            <a:ext cx="11176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6EE7B7"/>
                </a:solidFill>
              </a:rPr>
              <a:t>Transparent Pricing - 22 Services (KES)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B0A4AD-A76B-4362-B275-0753CB6B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42066"/>
              </p:ext>
            </p:extLst>
          </p:nvPr>
        </p:nvGraphicFramePr>
        <p:xfrm>
          <a:off x="508000" y="1270000"/>
          <a:ext cx="11175999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4119839685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2047670719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37327026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Services Included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Price Range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93932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6EE7B7"/>
                          </a:solidFill>
                        </a:rPr>
                        <a:t>Electrical Repairs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Socket, Switch, Breaker, Cable, Cord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150 - 600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19974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6EE7B7"/>
                          </a:solidFill>
                        </a:rPr>
                        <a:t>Installations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Shower Head, Bulbs, Sockets, Extensions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100 - 800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6292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6EE7B7"/>
                          </a:solidFill>
                        </a:rPr>
                        <a:t>Diagnostics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Wiring Inspection, Fault Finding, Appliance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200 - 1,000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98695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6EE7B7"/>
                          </a:solidFill>
                        </a:rPr>
                        <a:t>Mounting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TV (43-65"), Hooks, Shelves, LED Strips, Curtain Rod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100 - 1,500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469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6EE7B7"/>
                          </a:solidFill>
                        </a:rPr>
                        <a:t>Custom Budget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Study Lamp, LED Room Lighting, Extension Board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200 - 700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53471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6EE7B7"/>
                          </a:solidFill>
                        </a:rPr>
                        <a:t>Consultation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Electrical Safety Walk-through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FREE - 200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70804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6EE7B7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After-hours +50% | Repeat customers 10% discount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E6EEF8"/>
                          </a:solidFill>
                        </a:rPr>
                        <a:t>7-day warranty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29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263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A99A85-6655-42BB-836D-BFBBEF035226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D4A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</a:rPr>
              <a:t>Q2: ARCHITECTURE &amp;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772CE-436A-4F2D-8E4A-98DE55E092D1}"/>
              </a:ext>
            </a:extLst>
          </p:cNvPr>
          <p:cNvSpPr txBox="1"/>
          <p:nvPr/>
        </p:nvSpPr>
        <p:spPr>
          <a:xfrm>
            <a:off x="508000" y="698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6EE7B7"/>
                </a:solidFill>
              </a:rPr>
              <a:t>10 Competitive Advantages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85FD22-5449-4B0D-8D0C-C0F46E651A2D}"/>
              </a:ext>
            </a:extLst>
          </p:cNvPr>
          <p:cNvSpPr/>
          <p:nvPr/>
        </p:nvSpPr>
        <p:spPr>
          <a:xfrm>
            <a:off x="508000" y="13335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1. Professional Calibrated Tools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003243-E781-4548-9E7D-805100F93676}"/>
              </a:ext>
            </a:extLst>
          </p:cNvPr>
          <p:cNvSpPr/>
          <p:nvPr/>
        </p:nvSpPr>
        <p:spPr>
          <a:xfrm>
            <a:off x="6096000" y="13335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2. Transparent Pricing (online)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CCA900-8DE9-409E-948D-737E9118EC2E}"/>
              </a:ext>
            </a:extLst>
          </p:cNvPr>
          <p:cNvSpPr/>
          <p:nvPr/>
        </p:nvSpPr>
        <p:spPr>
          <a:xfrm>
            <a:off x="508000" y="19177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3. Digital Presence &amp; Accessibility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A4D282-1B55-4A4B-8DC0-1C6058D5A185}"/>
              </a:ext>
            </a:extLst>
          </p:cNvPr>
          <p:cNvSpPr/>
          <p:nvPr/>
        </p:nvSpPr>
        <p:spPr>
          <a:xfrm>
            <a:off x="6096000" y="19177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4. 30-Minute Response Time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7B58BB-3C94-4987-81AC-ACEF25A67DA9}"/>
              </a:ext>
            </a:extLst>
          </p:cNvPr>
          <p:cNvSpPr/>
          <p:nvPr/>
        </p:nvSpPr>
        <p:spPr>
          <a:xfrm>
            <a:off x="508000" y="25019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5. Wide Range of Services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E9E6E0-BEDD-40D2-91F9-B89953898F9D}"/>
              </a:ext>
            </a:extLst>
          </p:cNvPr>
          <p:cNvSpPr/>
          <p:nvPr/>
        </p:nvSpPr>
        <p:spPr>
          <a:xfrm>
            <a:off x="6096000" y="25019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6. Budget Custom Solutions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8FBAA4-A172-4AFE-87B5-8FA64B69EDEB}"/>
              </a:ext>
            </a:extLst>
          </p:cNvPr>
          <p:cNvSpPr/>
          <p:nvPr/>
        </p:nvSpPr>
        <p:spPr>
          <a:xfrm>
            <a:off x="508000" y="30861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7. Verified Track Record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D4FFA0-805D-42CD-8632-3560E67C946D}"/>
              </a:ext>
            </a:extLst>
          </p:cNvPr>
          <p:cNvSpPr/>
          <p:nvPr/>
        </p:nvSpPr>
        <p:spPr>
          <a:xfrm>
            <a:off x="6096000" y="30861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8. Student-Run, Student-Priced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198F9B-FA8C-4B2E-AB79-BF929349B3F1}"/>
              </a:ext>
            </a:extLst>
          </p:cNvPr>
          <p:cNvSpPr/>
          <p:nvPr/>
        </p:nvSpPr>
        <p:spPr>
          <a:xfrm>
            <a:off x="508000" y="36703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9. Safety Standards (instruments)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FD2A8D-E51F-4505-B24A-E253EE3D1A16}"/>
              </a:ext>
            </a:extLst>
          </p:cNvPr>
          <p:cNvSpPr/>
          <p:nvPr/>
        </p:nvSpPr>
        <p:spPr>
          <a:xfrm>
            <a:off x="6096000" y="3670300"/>
            <a:ext cx="5397500" cy="4826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lang="en-US" sz="1100" b="1">
                <a:solidFill>
                  <a:srgbClr val="E6EEF8"/>
                </a:solidFill>
              </a:rPr>
              <a:t>10. 7-Day Warranty on All Work</a:t>
            </a:r>
          </a:p>
        </p:txBody>
      </p:sp>
    </p:spTree>
    <p:extLst>
      <p:ext uri="{BB962C8B-B14F-4D97-AF65-F5344CB8AC3E}">
        <p14:creationId xmlns:p14="http://schemas.microsoft.com/office/powerpoint/2010/main" val="2176759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4D73F3-672B-4E8A-81E0-1AAFB4B86078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F1724"/>
                </a:solidFill>
              </a:rPr>
              <a:t>Q3: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AE0EE-B218-47FC-8BD0-740DBC2F6D4E}"/>
              </a:ext>
            </a:extLst>
          </p:cNvPr>
          <p:cNvSpPr txBox="1"/>
          <p:nvPr/>
        </p:nvSpPr>
        <p:spPr>
          <a:xfrm>
            <a:off x="508000" y="698500"/>
            <a:ext cx="11176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6EE7B7"/>
                </a:solidFill>
              </a:rPr>
              <a:t>Code Features Summary - All Requirements Met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A3D4B-D4F3-45BC-97A6-1D349AA61DB9}"/>
              </a:ext>
            </a:extLst>
          </p:cNvPr>
          <p:cNvSpPr txBox="1"/>
          <p:nvPr/>
        </p:nvSpPr>
        <p:spPr>
          <a:xfrm>
            <a:off x="508000" y="1270000"/>
            <a:ext cx="53340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EE7B7"/>
                </a:solidFill>
              </a:rPr>
              <a:t>STRUCTURE &amp; LAYOUT:</a:t>
            </a:r>
          </a:p>
          <a:p>
            <a:r>
              <a:rPr lang="en-US" sz="1000">
                <a:solidFill>
                  <a:srgbClr val="E6EEF8"/>
                </a:solidFill>
              </a:rPr>
              <a:t>  [OK] Semantic HTML5 tags</a:t>
            </a:r>
          </a:p>
          <a:p>
            <a:r>
              <a:rPr lang="en-US" sz="1000">
                <a:solidFill>
                  <a:srgbClr val="E6EEF8"/>
                </a:solidFill>
              </a:rPr>
              <a:t>  [OK] Flexbox navigation (sidebar)</a:t>
            </a:r>
          </a:p>
          <a:p>
            <a:r>
              <a:rPr lang="en-US" sz="1000">
                <a:solidFill>
                  <a:srgbClr val="E6EEF8"/>
                </a:solidFill>
              </a:rPr>
              <a:t>  [OK] CSS Grid (3-col cards)</a:t>
            </a:r>
          </a:p>
          <a:p>
            <a:r>
              <a:rPr lang="en-US" sz="1000">
                <a:solidFill>
                  <a:srgbClr val="E6EEF8"/>
                </a:solidFill>
              </a:rPr>
              <a:t>  [OK] External CSS (style.css)</a:t>
            </a:r>
          </a:p>
          <a:p>
            <a:r>
              <a:rPr lang="en-US" sz="1000">
                <a:solidFill>
                  <a:srgbClr val="E6EEF8"/>
                </a:solidFill>
              </a:rPr>
              <a:t>  [OK] Anchor navigation (#ids)</a:t>
            </a:r>
          </a:p>
          <a:p>
            <a:r>
              <a:rPr lang="en-US" sz="1000">
                <a:solidFill>
                  <a:srgbClr val="E6EEF8"/>
                </a:solidFill>
              </a:rPr>
              <a:t>  [OK] No JavaScript (pure CSS)</a:t>
            </a:r>
          </a:p>
          <a:p>
            <a:endParaRPr lang="en-US" sz="1000">
              <a:solidFill>
                <a:srgbClr val="E6EEF8"/>
              </a:solidFill>
            </a:endParaRPr>
          </a:p>
          <a:p>
            <a:r>
              <a:rPr lang="en-US" sz="1000" b="1">
                <a:solidFill>
                  <a:srgbClr val="6EE7B7"/>
                </a:solidFill>
              </a:rPr>
              <a:t>DESIGN:</a:t>
            </a:r>
          </a:p>
          <a:p>
            <a:r>
              <a:rPr lang="en-US" sz="1000">
                <a:solidFill>
                  <a:srgbClr val="E6EEF8"/>
                </a:solidFill>
              </a:rPr>
              <a:t>  [OK] Poppins + Open Sans fonts</a:t>
            </a:r>
          </a:p>
          <a:p>
            <a:r>
              <a:rPr lang="en-US" sz="1000">
                <a:solidFill>
                  <a:srgbClr val="E6EEF8"/>
                </a:solidFill>
              </a:rPr>
              <a:t>  [OK] Glassmorphism dark theme</a:t>
            </a:r>
          </a:p>
          <a:p>
            <a:r>
              <a:rPr lang="en-US" sz="1000">
                <a:solidFill>
                  <a:srgbClr val="E6EEF8"/>
                </a:solidFill>
              </a:rPr>
              <a:t>  [OK] Hover effects (cards, buttons)</a:t>
            </a:r>
          </a:p>
          <a:p>
            <a:r>
              <a:rPr lang="en-US" sz="1000">
                <a:solidFill>
                  <a:srgbClr val="E6EEF8"/>
                </a:solidFill>
              </a:rPr>
              <a:t>  [OK] Responsive (980px, 640px)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9BB68-C79B-4A95-A364-7579B6040B88}"/>
              </a:ext>
            </a:extLst>
          </p:cNvPr>
          <p:cNvSpPr txBox="1"/>
          <p:nvPr/>
        </p:nvSpPr>
        <p:spPr>
          <a:xfrm>
            <a:off x="6223000" y="1270000"/>
            <a:ext cx="5334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EE7B7"/>
                </a:solidFill>
              </a:rPr>
              <a:t>CONTENT:</a:t>
            </a:r>
          </a:p>
          <a:p>
            <a:r>
              <a:rPr lang="en-US" sz="1000">
                <a:solidFill>
                  <a:srgbClr val="E6EEF8"/>
                </a:solidFill>
              </a:rPr>
              <a:t>  [OK] 22-service pricing table</a:t>
            </a:r>
          </a:p>
          <a:p>
            <a:r>
              <a:rPr lang="en-US" sz="1000">
                <a:solidFill>
                  <a:srgbClr val="E6EEF8"/>
                </a:solidFill>
              </a:rPr>
              <a:t>  [OK] 6 service categories</a:t>
            </a:r>
          </a:p>
          <a:p>
            <a:r>
              <a:rPr lang="en-US" sz="1000">
                <a:solidFill>
                  <a:srgbClr val="E6EEF8"/>
                </a:solidFill>
              </a:rPr>
              <a:t>  [OK] TV mounting, LED strips</a:t>
            </a:r>
          </a:p>
          <a:p>
            <a:r>
              <a:rPr lang="en-US" sz="1000">
                <a:solidFill>
                  <a:srgbClr val="E6EEF8"/>
                </a:solidFill>
              </a:rPr>
              <a:t>  [OK] Custom study lamps</a:t>
            </a:r>
          </a:p>
          <a:p>
            <a:r>
              <a:rPr lang="en-US" sz="1000">
                <a:solidFill>
                  <a:srgbClr val="E6EEF8"/>
                </a:solidFill>
              </a:rPr>
              <a:t>  [OK] 6 competitive advantage cards</a:t>
            </a:r>
          </a:p>
          <a:p>
            <a:endParaRPr lang="en-US" sz="1000">
              <a:solidFill>
                <a:srgbClr val="E6EEF8"/>
              </a:solidFill>
            </a:endParaRPr>
          </a:p>
          <a:p>
            <a:r>
              <a:rPr lang="en-US" sz="1000" b="1">
                <a:solidFill>
                  <a:srgbClr val="6EE7B7"/>
                </a:solidFill>
              </a:rPr>
              <a:t>TESTIMONIALS:</a:t>
            </a:r>
          </a:p>
          <a:p>
            <a:r>
              <a:rPr lang="en-US" sz="1000">
                <a:solidFill>
                  <a:srgbClr val="E6EEF8"/>
                </a:solidFill>
              </a:rPr>
              <a:t>  [OK] Brian K. - Chebarus</a:t>
            </a:r>
          </a:p>
          <a:p>
            <a:r>
              <a:rPr lang="en-US" sz="1000">
                <a:solidFill>
                  <a:srgbClr val="E6EEF8"/>
                </a:solidFill>
              </a:rPr>
              <a:t>  [OK] Mercy W. - Talai</a:t>
            </a:r>
          </a:p>
          <a:p>
            <a:r>
              <a:rPr lang="en-US" sz="1000">
                <a:solidFill>
                  <a:srgbClr val="E6EEF8"/>
                </a:solidFill>
              </a:rPr>
              <a:t>  [OK] Kevin O. - Mabs</a:t>
            </a:r>
          </a:p>
          <a:p>
            <a:r>
              <a:rPr lang="en-US" sz="1000">
                <a:solidFill>
                  <a:srgbClr val="E6EEF8"/>
                </a:solidFill>
              </a:rPr>
              <a:t>  [OK] Lulu Malika - Mosop</a:t>
            </a:r>
          </a:p>
          <a:p>
            <a:r>
              <a:rPr lang="en-US" sz="1000">
                <a:solidFill>
                  <a:srgbClr val="E6EEF8"/>
                </a:solidFill>
              </a:rPr>
              <a:t>  [OK] Adrian - Mosop</a:t>
            </a:r>
          </a:p>
          <a:p>
            <a:r>
              <a:rPr lang="en-US" sz="1000">
                <a:solidFill>
                  <a:srgbClr val="E6EEF8"/>
                </a:solidFill>
              </a:rPr>
              <a:t>  [OK] Jamaal Abdalleh - Ohspak</a:t>
            </a:r>
          </a:p>
        </p:txBody>
      </p:sp>
    </p:spTree>
    <p:extLst>
      <p:ext uri="{BB962C8B-B14F-4D97-AF65-F5344CB8AC3E}">
        <p14:creationId xmlns:p14="http://schemas.microsoft.com/office/powerpoint/2010/main" val="3307027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854564-94AD-4C45-A01A-419231DD0471}"/>
              </a:ext>
            </a:extLst>
          </p:cNvPr>
          <p:cNvSpPr/>
          <p:nvPr/>
        </p:nvSpPr>
        <p:spPr>
          <a:xfrm>
            <a:off x="508000" y="190500"/>
            <a:ext cx="3556000" cy="381000"/>
          </a:xfrm>
          <a:prstGeom prst="roundRect">
            <a:avLst/>
          </a:prstGeom>
          <a:solidFill>
            <a:srgbClr val="FF64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Q4: QUALITY ASSURANCE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E81C8-41FC-47EF-A0AA-3AD46141F167}"/>
              </a:ext>
            </a:extLst>
          </p:cNvPr>
          <p:cNvSpPr txBox="1"/>
          <p:nvPr/>
        </p:nvSpPr>
        <p:spPr>
          <a:xfrm>
            <a:off x="508000" y="698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6EE7B7"/>
                </a:solidFill>
              </a:rPr>
              <a:t>Two Testing Methods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E97071-3576-4578-943A-E8FC06498552}"/>
              </a:ext>
            </a:extLst>
          </p:cNvPr>
          <p:cNvSpPr/>
          <p:nvPr/>
        </p:nvSpPr>
        <p:spPr>
          <a:xfrm>
            <a:off x="508000" y="1270000"/>
            <a:ext cx="5334000" cy="5207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tlCol="0" anchor="ctr"/>
          <a:lstStyle/>
          <a:p>
            <a:pPr algn="ctr"/>
            <a:r>
              <a:rPr lang="en-US" sz="1100" b="1">
                <a:solidFill>
                  <a:srgbClr val="60A5FA"/>
                </a:solidFill>
              </a:rPr>
              <a:t>METHOD 1: BROWSER TESTING</a:t>
            </a:r>
          </a:p>
          <a:p>
            <a:pPr algn="ctr"/>
            <a:endParaRPr lang="en-US" sz="900">
              <a:solidFill>
                <a:srgbClr val="E6EEF8"/>
              </a:solidFill>
            </a:endParaRPr>
          </a:p>
          <a:p>
            <a:pPr algn="ctr"/>
            <a:r>
              <a:rPr lang="en-US" sz="900">
                <a:solidFill>
                  <a:srgbClr val="E6EEF8"/>
                </a:solidFill>
              </a:rPr>
              <a:t>DevTools Simulation: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iPhone SE, iPhone 14, Galaxy S21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iPad, iPad Pro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Desktop 1280x720, 1920x1080</a:t>
            </a:r>
          </a:p>
          <a:p>
            <a:pPr algn="ctr"/>
            <a:endParaRPr lang="en-US" sz="900">
              <a:solidFill>
                <a:srgbClr val="E6EEF8"/>
              </a:solidFill>
            </a:endParaRPr>
          </a:p>
          <a:p>
            <a:pPr algn="ctr"/>
            <a:r>
              <a:rPr lang="en-US" sz="900">
                <a:solidFill>
                  <a:srgbClr val="E6EEF8"/>
                </a:solidFill>
              </a:rPr>
              <a:t>Cross-Browser: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Chrome, Firefox, Safari, Edge</a:t>
            </a:r>
          </a:p>
          <a:p>
            <a:pPr algn="ctr"/>
            <a:endParaRPr lang="en-US" sz="900">
              <a:solidFill>
                <a:srgbClr val="E6EEF8"/>
              </a:solidFill>
            </a:endParaRPr>
          </a:p>
          <a:p>
            <a:pPr algn="ctr"/>
            <a:r>
              <a:rPr lang="en-US" sz="900">
                <a:solidFill>
                  <a:srgbClr val="E6EEF8"/>
                </a:solidFill>
              </a:rPr>
              <a:t>Real Devices: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Android, iPhone, Laptop</a:t>
            </a:r>
          </a:p>
          <a:p>
            <a:pPr algn="ctr"/>
            <a:endParaRPr lang="en-US" sz="900">
              <a:solidFill>
                <a:srgbClr val="E6EEF8"/>
              </a:solidFill>
            </a:endParaRPr>
          </a:p>
          <a:p>
            <a:pPr algn="ctr"/>
            <a:r>
              <a:rPr lang="en-US" sz="900">
                <a:solidFill>
                  <a:srgbClr val="E6EEF8"/>
                </a:solidFill>
              </a:rPr>
              <a:t>Verify: sidebar collapse, grid reflow,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pricing scroll, touch targets, glass effects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10026E-D60C-4A37-84D9-8DD9AC60A134}"/>
              </a:ext>
            </a:extLst>
          </p:cNvPr>
          <p:cNvSpPr/>
          <p:nvPr/>
        </p:nvSpPr>
        <p:spPr>
          <a:xfrm>
            <a:off x="6223000" y="1270000"/>
            <a:ext cx="5334000" cy="5207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D4A8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tlCol="0" anchor="ctr"/>
          <a:lstStyle/>
          <a:p>
            <a:pPr algn="ctr"/>
            <a:r>
              <a:rPr lang="en-US" sz="1100" b="1">
                <a:solidFill>
                  <a:srgbClr val="D4A843"/>
                </a:solidFill>
              </a:rPr>
              <a:t>METHOD 2: USABILITY TESTING</a:t>
            </a:r>
          </a:p>
          <a:p>
            <a:pPr algn="ctr"/>
            <a:endParaRPr lang="en-US" sz="900">
              <a:solidFill>
                <a:srgbClr val="E6EEF8"/>
              </a:solidFill>
            </a:endParaRPr>
          </a:p>
          <a:p>
            <a:pPr algn="ctr"/>
            <a:r>
              <a:rPr lang="en-US" sz="900">
                <a:solidFill>
                  <a:srgbClr val="E6EEF8"/>
                </a:solidFill>
              </a:rPr>
              <a:t>8-10 student participants</a:t>
            </a:r>
          </a:p>
          <a:p>
            <a:pPr algn="ctr"/>
            <a:endParaRPr lang="en-US" sz="900">
              <a:solidFill>
                <a:srgbClr val="E6EEF8"/>
              </a:solidFill>
            </a:endParaRPr>
          </a:p>
          <a:p>
            <a:pPr algn="ctr"/>
            <a:r>
              <a:rPr lang="en-US" sz="900">
                <a:solidFill>
                  <a:srgbClr val="E6EEF8"/>
                </a:solidFill>
              </a:rPr>
              <a:t>6 Task Scenarios: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1. Find socket repair pricing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2. Find TV mounting cost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3. Find custom study lamp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4. Find customer reviews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5. Book a service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6. Find tools &amp; advantages</a:t>
            </a:r>
          </a:p>
          <a:p>
            <a:pPr algn="ctr"/>
            <a:endParaRPr lang="en-US" sz="900">
              <a:solidFill>
                <a:srgbClr val="E6EEF8"/>
              </a:solidFill>
            </a:endParaRPr>
          </a:p>
          <a:p>
            <a:pPr algn="ctr"/>
            <a:r>
              <a:rPr lang="en-US" sz="900">
                <a:solidFill>
                  <a:srgbClr val="E6EEF8"/>
                </a:solidFill>
              </a:rPr>
              <a:t>Decision Rules: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&gt;20% fail = redesign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Difficulty &gt;3/5 = improve</a:t>
            </a:r>
          </a:p>
          <a:p>
            <a:pPr algn="ctr"/>
            <a:r>
              <a:rPr lang="en-US" sz="900">
                <a:solidFill>
                  <a:srgbClr val="E6EEF8"/>
                </a:solidFill>
              </a:rPr>
              <a:t>  Ease &lt;4/5 = full review</a:t>
            </a:r>
          </a:p>
        </p:txBody>
      </p:sp>
    </p:spTree>
    <p:extLst>
      <p:ext uri="{BB962C8B-B14F-4D97-AF65-F5344CB8AC3E}">
        <p14:creationId xmlns:p14="http://schemas.microsoft.com/office/powerpoint/2010/main" val="2846068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64923F-04F8-45D4-8013-8803C6723452}"/>
              </a:ext>
            </a:extLst>
          </p:cNvPr>
          <p:cNvSpPr/>
          <p:nvPr/>
        </p:nvSpPr>
        <p:spPr>
          <a:xfrm>
            <a:off x="3556000" y="762000"/>
            <a:ext cx="5080000" cy="1143000"/>
          </a:xfrm>
          <a:prstGeom prst="roundRect">
            <a:avLst/>
          </a:prstGeom>
          <a:solidFill>
            <a:srgbClr val="141E30"/>
          </a:solidFill>
          <a:ln w="25400">
            <a:solidFill>
              <a:srgbClr val="6EE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Inner Circle</a:t>
            </a:r>
          </a:p>
          <a:p>
            <a:pPr algn="ctr"/>
            <a:r>
              <a:rPr lang="en-US" sz="3000" b="1">
                <a:solidFill>
                  <a:srgbClr val="D4A843"/>
                </a:solidFill>
              </a:rPr>
              <a:t>Electricals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66350-BCF4-4233-87CC-22FF54D6837F}"/>
              </a:ext>
            </a:extLst>
          </p:cNvPr>
          <p:cNvSpPr txBox="1"/>
          <p:nvPr/>
        </p:nvSpPr>
        <p:spPr>
          <a:xfrm>
            <a:off x="0" y="2222500"/>
            <a:ext cx="1219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>
                <a:solidFill>
                  <a:srgbClr val="6EE7B7"/>
                </a:solidFill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F82A9-9CA8-48A2-B8D7-5A712AE5B415}"/>
              </a:ext>
            </a:extLst>
          </p:cNvPr>
          <p:cNvSpPr txBox="1"/>
          <p:nvPr/>
        </p:nvSpPr>
        <p:spPr>
          <a:xfrm>
            <a:off x="0" y="2857500"/>
            <a:ext cx="1219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9CA3AF"/>
                </a:solidFill>
              </a:rPr>
              <a:t>Affordable. Transparent. Professional. Student-Run.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80EFF-FE24-4590-B2F4-EFF6B6B48306}"/>
              </a:ext>
            </a:extLst>
          </p:cNvPr>
          <p:cNvSpPr txBox="1"/>
          <p:nvPr/>
        </p:nvSpPr>
        <p:spPr>
          <a:xfrm>
            <a:off x="508000" y="3492500"/>
            <a:ext cx="11176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60A5FA"/>
                </a:solidFill>
              </a:rPr>
              <a:t>GROUP MEMBERS:</a:t>
            </a:r>
          </a:p>
          <a:p>
            <a:pPr algn="ctr"/>
            <a:r>
              <a:rPr lang="en-US" sz="1100">
                <a:solidFill>
                  <a:srgbClr val="E6EEF8"/>
                </a:solidFill>
              </a:rPr>
              <a:t>Joshua Kipruto (EC/2595/23) | Brian Irungu (EC/2564/23) | Brian Wanyiri (EC/2577/23)</a:t>
            </a:r>
          </a:p>
          <a:p>
            <a:pPr algn="ctr"/>
            <a:r>
              <a:rPr lang="en-US" sz="1100">
                <a:solidFill>
                  <a:srgbClr val="E6EEF8"/>
                </a:solidFill>
              </a:rPr>
              <a:t>Emmanuel Ooko (EC/2584/23) | Timothy Muyelele (EC/2585/23)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5928A-33DE-4CBE-BA60-A1850C31A680}"/>
              </a:ext>
            </a:extLst>
          </p:cNvPr>
          <p:cNvSpPr txBox="1"/>
          <p:nvPr/>
        </p:nvSpPr>
        <p:spPr>
          <a:xfrm>
            <a:off x="0" y="628650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>
                <a:solidFill>
                  <a:srgbClr val="9CA3AF"/>
                </a:solidFill>
              </a:rPr>
              <a:t>Lecturer: Dr. Eng. Cedric Okinda  |  February 11, 2026</a:t>
            </a:r>
          </a:p>
        </p:txBody>
      </p:sp>
    </p:spTree>
    <p:extLst>
      <p:ext uri="{BB962C8B-B14F-4D97-AF65-F5344CB8AC3E}">
        <p14:creationId xmlns:p14="http://schemas.microsoft.com/office/powerpoint/2010/main" val="2643289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1362</Words>
  <Application>Microsoft Office PowerPoint</Application>
  <PresentationFormat>Widescreen</PresentationFormat>
  <Paragraphs>259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</cp:revision>
  <dcterms:created xsi:type="dcterms:W3CDTF">2026-02-17T11:44:38Z</dcterms:created>
  <dcterms:modified xsi:type="dcterms:W3CDTF">2026-02-17T11:45:22Z</dcterms:modified>
</cp:coreProperties>
</file>